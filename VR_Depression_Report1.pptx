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Minimal (n=20)</c:v>
                </c:pt>
              </c:strCache>
            </c:strRef>
          </c:tx>
          <c:spPr>
            <a:solidFill>
              <a:srgbClr val="2D5F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V1</c:v>
                  </c:pt>
                  <c:pt idx="1">
                    <c:v>V2</c:v>
                  </c:pt>
                  <c:pt idx="2">
                    <c:v>V3</c:v>
                  </c:pt>
                  <c:pt idx="3">
                    <c:v>V4</c:v>
                  </c:pt>
                  <c:pt idx="4">
                    <c:v>V5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32.58</c:v>
                </c:pt>
                <c:pt idx="1">
                  <c:v>28.21</c:v>
                </c:pt>
                <c:pt idx="2">
                  <c:v>31.32</c:v>
                </c:pt>
                <c:pt idx="3">
                  <c:v>18.67</c:v>
                </c:pt>
                <c:pt idx="4">
                  <c:v>28.31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Mild (n=12)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V1</c:v>
                  </c:pt>
                  <c:pt idx="1">
                    <c:v>V2</c:v>
                  </c:pt>
                  <c:pt idx="2">
                    <c:v>V3</c:v>
                  </c:pt>
                  <c:pt idx="3">
                    <c:v>V4</c:v>
                  </c:pt>
                  <c:pt idx="4">
                    <c:v>V5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29.82</c:v>
                </c:pt>
                <c:pt idx="1">
                  <c:v>26.58</c:v>
                </c:pt>
                <c:pt idx="2">
                  <c:v>28.84</c:v>
                </c:pt>
                <c:pt idx="3">
                  <c:v>15.39</c:v>
                </c:pt>
                <c:pt idx="4">
                  <c:v>23.19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Moderate-Severe (n=8)</c:v>
                </c:pt>
              </c:strCache>
            </c:strRef>
          </c:tx>
          <c:spPr>
            <a:solidFill>
              <a:srgbClr val="E052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V1</c:v>
                  </c:pt>
                  <c:pt idx="1">
                    <c:v>V2</c:v>
                  </c:pt>
                  <c:pt idx="2">
                    <c:v>V3</c:v>
                  </c:pt>
                  <c:pt idx="3">
                    <c:v>V4</c:v>
                  </c:pt>
                  <c:pt idx="4">
                    <c:v>V5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29.77</c:v>
                </c:pt>
                <c:pt idx="1">
                  <c:v>30.32</c:v>
                </c:pt>
                <c:pt idx="2">
                  <c:v>27.07</c:v>
                </c:pt>
                <c:pt idx="3">
                  <c:v>19.83</c:v>
                </c:pt>
                <c:pt idx="4">
                  <c:v>24.16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Video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Mean Yaw Speed (deg/s)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C8"/>
          </a:solidFill>
          <a:ln w="12700">
            <a:solidFill>
              <a:srgbClr val="00B4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109728" cy="4997196"/>
          </a:xfrm>
          <a:prstGeom prst="rect">
            <a:avLst/>
          </a:prstGeom>
          <a:solidFill>
            <a:srgbClr val="2D5FA3"/>
          </a:solidFill>
          <a:ln w="12700">
            <a:solidFill>
              <a:srgbClr val="2D5F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0"/>
            <a:ext cx="8412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Head Scans Reveal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Depression?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from 360° Psychomotor Assessment in VR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2944368"/>
            <a:ext cx="3200400" cy="36576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09067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Rachakonda Hrithik Sagar  |  Aryan Jain  |  Vidhi Rathore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3456432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Nos: 2023900021  |  2025701055  |  2023121002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877056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IIIT Hyderabad  |  Behavioral Research &amp; Statistical Methods  |  Report 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Research Gap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IIIT Hyderabad | BRSM Report 1 |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3931920" cy="34747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68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280M+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people affected by depression worldwide
</a:t>
            </a:r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PHQ-9 is widely used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but relies entirely on self-report — prone to: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bias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desirability effects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patient insight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200" b="1" i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objective, behavioural biomarkers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892040" y="86868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868680"/>
            <a:ext cx="3931920" cy="347472"/>
          </a:xfrm>
          <a:prstGeom prst="rect">
            <a:avLst/>
          </a:prstGeom>
          <a:solidFill>
            <a:srgbClr val="2D5FA3"/>
          </a:solidFill>
          <a:ln w="12700">
            <a:solidFill>
              <a:srgbClr val="2D5F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868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28016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Psychomotor retardation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core DSM-5 criterion for depression — slowing of both physical and mental activity
</a:t>
            </a:r>
            <a:pPr indent="0" marL="0">
              <a:buNone/>
            </a:pPr>
            <a:r>
              <a:rPr lang="en-US" sz="1200" b="1" i="1" dirty="0">
                <a:solidFill>
                  <a:srgbClr val="2D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Srivastava &amp; Lahane (2025)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that 360° VR head-scanning speed is a valid biomarker: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yaw scanning in higher-depression groups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holds even when valence ratings match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HTC Vive Pro + 60s clips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b="1" i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replicate this with Meta Quest 3 at IIIT Hyderabad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Design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IIIT Hyderabad | BRSM Report 1 |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170432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40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M = 22.77 (SD = 1.80), range 19–27
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male, 4 female
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no VR experience, 16 some prior experience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242316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2788920"/>
            <a:ext cx="4114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PHQ-9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Depression (self-report)
</a:t>
            </a:r>
            <a:pPr indent="0" marL="0">
              <a:buNone/>
            </a:pPr>
            <a:r>
              <a:rPr lang="en-US" sz="1200" b="1" dirty="0">
                <a:solidFill>
                  <a:srgbClr val="2D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GAD-7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Anxiety (self-report)
</a:t>
            </a:r>
            <a:pPr indent="0" marL="0">
              <a:buNone/>
            </a:pPr>
            <a:r>
              <a:rPr lang="en-US" sz="1200" b="1" dirty="0">
                <a:solidFill>
                  <a:srgbClr val="2D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STAI-T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Trait anxiety (self-report)
</a:t>
            </a:r>
            <a:pPr indent="0" marL="0">
              <a:buNone/>
            </a:pPr>
            <a:r>
              <a:rPr lang="en-US" sz="120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PANAS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Affect pre &amp; post VR  ← NEW
</a:t>
            </a:r>
            <a:pPr indent="0" marL="0">
              <a:buNone/>
            </a:pPr>
            <a:r>
              <a:rPr lang="en-US" sz="1200" b="1" dirty="0">
                <a:solidFill>
                  <a:srgbClr val="2D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Valence / Arousal / Immersion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 video
</a:t>
            </a:r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 Angular Speed (deg/s)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head-tracking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9160" y="822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VR Videos (Meta Quest 3)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123444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234440"/>
            <a:ext cx="109728" cy="566928"/>
          </a:xfrm>
          <a:prstGeom prst="rect">
            <a:avLst/>
          </a:prstGeom>
          <a:solidFill>
            <a:srgbClr val="6B7FBF"/>
          </a:solidFill>
          <a:ln w="12700">
            <a:solidFill>
              <a:srgbClr val="6B7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234440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48656" y="127101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Abandoned Buildings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48656" y="153619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Neutral/Eerie · ~62s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1892808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892808"/>
            <a:ext cx="109728" cy="566928"/>
          </a:xfrm>
          <a:prstGeom prst="rect">
            <a:avLst/>
          </a:prstGeom>
          <a:solidFill>
            <a:srgbClr val="3FA0C0"/>
          </a:solidFill>
          <a:ln w="12700">
            <a:solidFill>
              <a:srgbClr val="3FA0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892808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48656" y="192938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at Beach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48656" y="219456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Positive/Calm · ~61s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51176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551176"/>
            <a:ext cx="109728" cy="566928"/>
          </a:xfrm>
          <a:prstGeom prst="rect">
            <a:avLst/>
          </a:prstGeom>
          <a:solidFill>
            <a:srgbClr val="3CB878"/>
          </a:solidFill>
          <a:ln w="12700">
            <a:solidFill>
              <a:srgbClr val="3CB8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551176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48656" y="258775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48656" y="285292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Neutral/Positive · ~61s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3209544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209544"/>
            <a:ext cx="109728" cy="566928"/>
          </a:xfrm>
          <a:prstGeom prst="rect">
            <a:avLst/>
          </a:prstGeom>
          <a:solidFill>
            <a:srgbClr val="D05050"/>
          </a:solidFill>
          <a:ln w="12700">
            <a:solidFill>
              <a:srgbClr val="D050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209544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48656" y="32461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Nun (Horror)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48656" y="351129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Negative/Arousing · ~122s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867912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867912"/>
            <a:ext cx="109728" cy="566928"/>
          </a:xfrm>
          <a:prstGeom prst="rect">
            <a:avLst/>
          </a:prstGeom>
          <a:solidFill>
            <a:srgbClr val="00B4C8"/>
          </a:solidFill>
          <a:ln w="12700">
            <a:solidFill>
              <a:srgbClr val="00B4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867912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48656" y="39044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Tahiti Surf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48656" y="4169664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Positive/Exciting · ~184s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Overview &amp; Key Statistics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IIIT Hyderabad | BRSM Report 1 |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1920240" cy="1097280"/>
          </a:xfrm>
          <a:prstGeom prst="roundRect">
            <a:avLst/>
          </a:prstGeom>
          <a:solidFill>
            <a:srgbClr val="2D5FA3"/>
          </a:solidFill>
          <a:ln w="12700">
            <a:solidFill>
              <a:srgbClr val="2D5F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941832"/>
            <a:ext cx="192024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74320" y="1505102"/>
            <a:ext cx="192024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868680"/>
            <a:ext cx="1920240" cy="1097280"/>
          </a:xfrm>
          <a:prstGeom prst="roundRect">
            <a:avLst/>
          </a:prstGeom>
          <a:solidFill>
            <a:srgbClr val="22385F"/>
          </a:solidFill>
          <a:ln w="12700">
            <a:solidFill>
              <a:srgbClr val="2238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31720" y="941832"/>
            <a:ext cx="192024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22.77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331720" y="1505102"/>
            <a:ext cx="192024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Age (SD=1.80)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868680"/>
            <a:ext cx="1920240" cy="1097280"/>
          </a:xfrm>
          <a:prstGeom prst="roundRect">
            <a:avLst/>
          </a:prstGeom>
          <a:solidFill>
            <a:srgbClr val="00B4C8"/>
          </a:solidFill>
          <a:ln w="12700">
            <a:solidFill>
              <a:srgbClr val="00B4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89120" y="941832"/>
            <a:ext cx="192024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36M / 4F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389120" y="1505102"/>
            <a:ext cx="192024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46520" y="868680"/>
            <a:ext cx="1920240" cy="1097280"/>
          </a:xfrm>
          <a:prstGeom prst="roundRect">
            <a:avLst/>
          </a:prstGeom>
          <a:solidFill>
            <a:srgbClr val="2D5FA3"/>
          </a:solidFill>
          <a:ln w="12700">
            <a:solidFill>
              <a:srgbClr val="2D5F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941832"/>
            <a:ext cx="192024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Hz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446520" y="1505102"/>
            <a:ext cx="192024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Tracking Rate</a:t>
            </a:r>
            <a:endParaRPr lang="en-US" sz="11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103120"/>
            <a:ext cx="8595360" cy="26517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274320" y="47274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PHQ-9, GAD-7, STAI-T distributions  |  Depression groups  |  Age &amp; gender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Normality Tests &amp; Outlier Detection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IIIT Hyderabad | BRSM Report 1 | 2026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22960"/>
          <a:ext cx="41148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97280"/>
                <a:gridCol w="10972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 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PHQ-9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.002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GAD-7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&lt; 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STAI-T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.045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PANAS Pos (Pre)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.214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PANAS Neg (Pre)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.003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D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306324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Non-normality in clinical scales justifies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D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 tests (Kruskal-Wallis, Wilcoxon, Spearman)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09160" y="82296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09160" y="822960"/>
            <a:ext cx="411480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09160" y="8229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Analysis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846320" y="123444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methods used: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  (Q₁ − 1.5×IQR to Q₃ + 1.5×IQR)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threshold  (|z| &gt; 2.5)
</a:t>
            </a:r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PHQ-9 flagged: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IQR → 3 participants (scores 16, 17, 18)
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z-score → 1 participant (score 18)
</a:t>
            </a:r>
            <a:pPr indent="0" marL="0">
              <a:buNone/>
            </a:pPr>
            <a:r>
              <a:rPr lang="en-US" sz="1300" b="1" dirty="0">
                <a:solidFill>
                  <a:srgbClr val="3CB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</a:t>
            </a:r>
            <a:pPr indent="0" marL="0">
              <a:buNone/>
            </a:pPr>
            <a:r>
              <a:rPr lang="en-US" sz="1300" b="1" dirty="0">
                <a:solidFill>
                  <a:srgbClr val="3CB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ALL 40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Scores are clinically valid
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Represent the most important group (Mod-Severe)
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Removal would destroy the high-depression cell (n=8)
</a:t>
            </a:r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Supported by Tabachnick &amp; Fidell (2019)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PHQ-9 Depression Groups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IIIT Hyderabad | BRSM Report 1 |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2743200" cy="731520"/>
          </a:xfrm>
          <a:prstGeom prst="rect">
            <a:avLst/>
          </a:prstGeom>
          <a:solidFill>
            <a:srgbClr val="2D5FA3"/>
          </a:solidFill>
          <a:ln w="12700">
            <a:solidFill>
              <a:srgbClr val="2D5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229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74320" y="12070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E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PHQ-9: 0–4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169164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D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274320" y="23865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 (50%)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761488"/>
            <a:ext cx="2286000" cy="36576"/>
          </a:xfrm>
          <a:prstGeom prst="rect">
            <a:avLst/>
          </a:prstGeom>
          <a:solidFill>
            <a:srgbClr val="C5D3E8"/>
          </a:solidFill>
          <a:ln w="12700">
            <a:solidFill>
              <a:srgbClr val="C5D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8529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2.60  (SD = 1.47)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3246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 minimal depressive symptoms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82296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822960"/>
            <a:ext cx="2743200" cy="73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8229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200400" y="12070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E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PHQ-9: 5–9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169164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3200400" y="23865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 (30%)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29000" y="2761488"/>
            <a:ext cx="2286000" cy="36576"/>
          </a:xfrm>
          <a:prstGeom prst="rect">
            <a:avLst/>
          </a:prstGeom>
          <a:solidFill>
            <a:srgbClr val="C5D3E8"/>
          </a:solidFill>
          <a:ln w="12700">
            <a:solidFill>
              <a:srgbClr val="C5D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8529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6.58  (SD = 1.31)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246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symptoms; watchful waiting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82296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822960"/>
            <a:ext cx="2743200" cy="73152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8229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Moderate-Severe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126480" y="12070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E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PHQ-9: ≥ 10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26480" y="169164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800" dirty="0"/>
          </a:p>
        </p:txBody>
      </p:sp>
      <p:sp>
        <p:nvSpPr>
          <p:cNvPr id="29" name="Text 27"/>
          <p:cNvSpPr/>
          <p:nvPr/>
        </p:nvSpPr>
        <p:spPr>
          <a:xfrm>
            <a:off x="6126480" y="23865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 (20%)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55080" y="2761488"/>
            <a:ext cx="2286000" cy="36576"/>
          </a:xfrm>
          <a:prstGeom prst="rect">
            <a:avLst/>
          </a:prstGeom>
          <a:solidFill>
            <a:srgbClr val="C5D3E8"/>
          </a:solidFill>
          <a:ln w="12700">
            <a:solidFill>
              <a:srgbClr val="C5D3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28529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13.75  (SD = 2.92)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63640" y="3246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significant depression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" y="477316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Cut-offs: Kroenke et al. (2001) — three groups preferred over binary split to preserve ordinal information and detect dose-response patterns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Depression–Anxiety Covariance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IIIT Hyderabad | BRSM Report 1 |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3931920" cy="694944"/>
          </a:xfrm>
          <a:prstGeom prst="rect">
            <a:avLst/>
          </a:prstGeom>
          <a:solidFill>
            <a:srgbClr val="EFF4FD"/>
          </a:solidFill>
          <a:ln w="12700">
            <a:solidFill>
              <a:srgbClr val="C5D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93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PHQ-9 &amp; GAD-7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06040" y="1271016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.579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0" y="128930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.001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057400"/>
            <a:ext cx="3931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122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PHQ-9 &amp; STAI-T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2093976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.642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4720" y="211226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.001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880360"/>
            <a:ext cx="3931920" cy="694944"/>
          </a:xfrm>
          <a:prstGeom prst="rect">
            <a:avLst/>
          </a:prstGeom>
          <a:solidFill>
            <a:srgbClr val="EFF4FD"/>
          </a:solidFill>
          <a:ln w="12700">
            <a:solidFill>
              <a:srgbClr val="C5D3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352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GAD-7 &amp; STAI-T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06040" y="2916936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.697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74720" y="293522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.001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37673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 confirms groups differ on anxiety: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40690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GAD-7: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 = 12.81, </a:t>
            </a:r>
            <a:pPr indent="0" marL="0">
              <a:buNone/>
            </a:pPr>
            <a:r>
              <a:rPr lang="en-US" sz="13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.002 **
</a:t>
            </a:r>
            <a:pPr indent="0" marL="0">
              <a:buNone/>
            </a:pPr>
            <a:r>
              <a:rPr lang="en-US" sz="1300" b="1" dirty="0">
                <a:solidFill>
                  <a:srgbClr val="2D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STAI-T: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 = 10.63, </a:t>
            </a:r>
            <a:pPr indent="0" marL="0">
              <a:buNone/>
            </a:pPr>
            <a:r>
              <a:rPr lang="en-US" sz="13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.005 **</a:t>
            </a:r>
            <a:endParaRPr lang="en-US" sz="13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804672"/>
            <a:ext cx="429768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Per-Video Subjective Ratings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IIIT Hyderabad | BRSM Report 1 |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1600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1600200" cy="274320"/>
          </a:xfrm>
          <a:prstGeom prst="rect">
            <a:avLst/>
          </a:prstGeom>
          <a:solidFill>
            <a:srgbClr val="6B7FBF"/>
          </a:solidFill>
          <a:ln w="12700">
            <a:solidFill>
              <a:srgbClr val="6B7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22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115568"/>
            <a:ext cx="1600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5.20 | Aro 4.60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 29.6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0" y="822960"/>
            <a:ext cx="1600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0" y="822960"/>
            <a:ext cx="1600200" cy="274320"/>
          </a:xfrm>
          <a:prstGeom prst="rect">
            <a:avLst/>
          </a:prstGeom>
          <a:solidFill>
            <a:srgbClr val="3FA0C0"/>
          </a:solidFill>
          <a:ln w="12700">
            <a:solidFill>
              <a:srgbClr val="3FA0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822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1115568"/>
            <a:ext cx="1600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6.53 | Aro 4.65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 27.3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49040" y="822960"/>
            <a:ext cx="1600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49040" y="822960"/>
            <a:ext cx="1600200" cy="274320"/>
          </a:xfrm>
          <a:prstGeom prst="rect">
            <a:avLst/>
          </a:prstGeom>
          <a:solidFill>
            <a:srgbClr val="3CB878"/>
          </a:solidFill>
          <a:ln w="12700">
            <a:solidFill>
              <a:srgbClr val="3CB8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822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49040" y="1115568"/>
            <a:ext cx="1600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6.15 | Aro 4.33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 27.0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0" y="822960"/>
            <a:ext cx="1600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0" y="822960"/>
            <a:ext cx="1600200" cy="274320"/>
          </a:xfrm>
          <a:prstGeom prst="rect">
            <a:avLst/>
          </a:prstGeom>
          <a:solidFill>
            <a:srgbClr val="D05050"/>
          </a:solidFill>
          <a:ln w="12700">
            <a:solidFill>
              <a:srgbClr val="D05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822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0" y="1115568"/>
            <a:ext cx="1600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3.67 | Aro 5.95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 19.9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23760" y="822960"/>
            <a:ext cx="1600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223760" y="822960"/>
            <a:ext cx="1600200" cy="274320"/>
          </a:xfrm>
          <a:prstGeom prst="rect">
            <a:avLst/>
          </a:prstGeom>
          <a:solidFill>
            <a:srgbClr val="00B4C8"/>
          </a:solidFill>
          <a:ln w="12700">
            <a:solidFill>
              <a:srgbClr val="00B4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0" y="822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23760" y="1115568"/>
            <a:ext cx="1600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7.12 | Aro 6.50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 28.0</a:t>
            </a:r>
            <a:endParaRPr lang="en-US" sz="10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920240"/>
            <a:ext cx="8595360" cy="27432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274320" y="47091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Friedman χ²(4) = 52.47, p &lt; .001 for valence  |  V4 Horror lowest valence (3.67) &amp; lowest immersion (19.9) despite highest arousal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IIIT Hyderabad | BRSM Report 1 |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Horror Video (V4: The Nun)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Stimulus Among the Five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2606040" cy="1417320"/>
          </a:xfrm>
          <a:prstGeom prst="round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216152"/>
            <a:ext cx="2606040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3.67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965046"/>
            <a:ext cx="2606040" cy="595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Valence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6060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 of 9 — significantly below V2 Beach, Wilcoxon p &lt; .001)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143000"/>
            <a:ext cx="2606040" cy="1417320"/>
          </a:xfrm>
          <a:prstGeom prst="round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1216152"/>
            <a:ext cx="2606040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5.95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46120" y="1965046"/>
            <a:ext cx="2606040" cy="595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Arousal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26060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(highest of all 5 videos)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143000"/>
            <a:ext cx="2606040" cy="1417320"/>
          </a:xfrm>
          <a:prstGeom prst="round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1216152"/>
            <a:ext cx="2606040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19.9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126480" y="1965046"/>
            <a:ext cx="2606040" cy="595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Immersion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26060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(paradoxically low despite longest duration ~122s)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090672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arousal does NOT automatically produce high immersion.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threatening horror content likely triggered </a:t>
            </a:r>
            <a:endParaRPr lang="en-US" sz="1400" dirty="0"/>
          </a:p>
          <a:p>
            <a:pPr indent="0" marL="0">
              <a:buNone/>
            </a:pPr>
            <a:r>
              <a:rPr lang="en-US" sz="1400" b="1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threat-induced avoidance behaviour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suppressing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head movement and reducing sense of presence despite longer viewing time.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Change: PANAS Pre vs Post VR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IIIT Hyderabad | BRSM Report 1 |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Paired-Samples t-test Results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3931920" cy="1234440"/>
          </a:xfrm>
          <a:prstGeom prst="rect">
            <a:avLst/>
          </a:prstGeom>
          <a:solidFill>
            <a:srgbClr val="EFF4FD"/>
          </a:solidFill>
          <a:ln w="12700">
            <a:solidFill>
              <a:srgbClr val="C5D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618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B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Affect  ✓ Significant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53619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Pre: M = 34.52  →  Post: M = 32.15
</a:t>
            </a:r>
            <a:pPr indent="0" marL="0">
              <a:buNone/>
            </a:pPr>
            <a:r>
              <a:rPr lang="en-US" sz="1200" b="1" dirty="0">
                <a:solidFill>
                  <a:srgbClr val="2D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t(39) = 2.09, p = .043, Cohen's d = 0.27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560320"/>
            <a:ext cx="3931920" cy="1097280"/>
          </a:xfrm>
          <a:prstGeom prst="rect">
            <a:avLst/>
          </a:prstGeom>
          <a:solidFill>
            <a:srgbClr val="FFF4F4"/>
          </a:solidFill>
          <a:ln w="12700">
            <a:solidFill>
              <a:srgbClr val="C5D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606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Affect  ✗ Not Significant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880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t(39) = −1.06, p = .294  (no change)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730752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trend (Positive Affect Δ):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Minimal:         −2.45
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Mild:            −1.67
</a:t>
            </a:r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Moderate-Severe: −4.25  ← largest drop</a:t>
            </a:r>
            <a:endParaRPr lang="en-US" sz="12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804672"/>
            <a:ext cx="429768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C8"/>
          </a:solidFill>
          <a:ln w="12700">
            <a:solidFill>
              <a:srgbClr val="00B4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IIIT Hyderabad | BRSM Report 1 |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Head-Tracking Data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Behavioural Metric: Mean Yaw Angular Speed (deg/s)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743200" cy="3246120"/>
          </a:xfrm>
          <a:prstGeom prst="rect">
            <a:avLst/>
          </a:prstGeom>
          <a:solidFill>
            <a:srgbClr val="22385F"/>
          </a:solidFill>
          <a:ln w="12700">
            <a:solidFill>
              <a:srgbClr val="00B4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2743200" cy="329184"/>
          </a:xfrm>
          <a:prstGeom prst="rect">
            <a:avLst/>
          </a:prstGeom>
          <a:solidFill>
            <a:srgbClr val="00B4C8"/>
          </a:solidFill>
          <a:ln w="12700">
            <a:solidFill>
              <a:srgbClr val="00B4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173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Yaw Speed?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RotationSpeedY (deg/s)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the participant scans left-right during a video.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= more active head exploration.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2743200" cy="3246120"/>
          </a:xfrm>
          <a:prstGeom prst="rect">
            <a:avLst/>
          </a:prstGeom>
          <a:solidFill>
            <a:srgbClr val="22385F"/>
          </a:solidFill>
          <a:ln w="12700">
            <a:solidFill>
              <a:srgbClr val="2D5F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417320"/>
            <a:ext cx="2743200" cy="329184"/>
          </a:xfrm>
          <a:prstGeom prst="rect">
            <a:avLst/>
          </a:prstGeom>
          <a:solidFill>
            <a:srgbClr val="2D5FA3"/>
          </a:solidFill>
          <a:ln w="12700">
            <a:solidFill>
              <a:srgbClr val="2D5F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4173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82880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Quest 3 at ~50 Hz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CSV per participant per video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total files (40 × 5 videos)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2743200" cy="3246120"/>
          </a:xfrm>
          <a:prstGeom prst="rect">
            <a:avLst/>
          </a:prstGeom>
          <a:solidFill>
            <a:srgbClr val="22385F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417320"/>
            <a:ext cx="2743200" cy="32918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4173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Prediction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182880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Srivastava &amp; Lahane (2025):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 ↑  →  Head Scanning 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Psychomotor retardation hypothesis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Scanning Speed — Key Findings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IIIT Hyderabad | BRSM Report 1 | 2026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22960"/>
          <a:ext cx="41148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14400"/>
                <a:gridCol w="640080"/>
                <a:gridCol w="640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(deg/s)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Abandoned Buildings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~62s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Evening at Beach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~61s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 Campus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~61s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 The Nun (Horror)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~122s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V5 Tahiti Surf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~184s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D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32735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Horror is ~43% slower than V1 (31.19 → 17.92 deg/s)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" y="37033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 (groups):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videos: p &gt; .30 (ns)
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correct for V1, V3, V5:
</a:t>
            </a:r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Mod-Severe numerically &lt; Minimal
</a:t>
            </a:r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PHQ-9 vs speed: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|ρ| &lt; .12, p &gt; .48 (not sig.)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804672"/>
            <a:ext cx="429768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Speed by Depression Group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IIIT Hyderabad | BRSM Report 1 | 2026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804672"/>
          <a:ext cx="54864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989320" y="804672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89320" y="804672"/>
            <a:ext cx="283464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89320" y="80467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108192" y="1188720"/>
            <a:ext cx="2606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(Horror) stands out: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groups scan dramatically slower — stimulus effect dominates
</a:t>
            </a:r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V1, V3, V5 show expected direction: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&gt; Mod-Severe (consistent with psychomotor retardation)
</a:t>
            </a:r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V2, V4: Reversed direction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Mod-Severe &gt;= Minimal — stimulus type may override group effect
</a:t>
            </a:r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reaches significance (p &gt; .30)
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n per group (8–20) limits power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IIIT Hyderabad | BRSM Report 1 |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347472" cy="1225296"/>
          </a:xfrm>
          <a:prstGeom prst="rect">
            <a:avLst/>
          </a:prstGeom>
          <a:solidFill>
            <a:srgbClr val="2D5FA3"/>
          </a:solidFill>
          <a:ln w="12700">
            <a:solidFill>
              <a:srgbClr val="2D5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22960"/>
            <a:ext cx="3474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13232" y="896112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Non-normal distributions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1170432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PHQ-9, GAD-7, STAI-T all violate normality (SW p ≤ .045) → non-parametric tests justified throughout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822960"/>
            <a:ext cx="411480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22960"/>
            <a:ext cx="347472" cy="1225296"/>
          </a:xfrm>
          <a:prstGeom prst="rect">
            <a:avLst/>
          </a:prstGeom>
          <a:solidFill>
            <a:srgbClr val="00B4C8"/>
          </a:solidFill>
          <a:ln w="12700">
            <a:solidFill>
              <a:srgbClr val="00B4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822960"/>
            <a:ext cx="3474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48072" y="896112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clinical covariance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48072" y="1170432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PHQ-9, GAD-7, STAI-T are highly intercorrelated (r = .58–.70). Anxiety groups differ significantly across depression groups (KW p &lt; .005)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176272"/>
            <a:ext cx="411480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176272"/>
            <a:ext cx="347472" cy="12252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176272"/>
            <a:ext cx="3474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13232" y="2249424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produce distinct emotions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" y="2523744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Friedman χ²(4)=52.47, p&lt;.001. V4 Horror: lowest valence (3.67) AND lowest immersion (19.9) despite highest arousal (5.95)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2176272"/>
            <a:ext cx="411480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176272"/>
            <a:ext cx="347472" cy="1225296"/>
          </a:xfrm>
          <a:prstGeom prst="rect">
            <a:avLst/>
          </a:prstGeom>
          <a:solidFill>
            <a:srgbClr val="3CB878"/>
          </a:solidFill>
          <a:ln w="12700">
            <a:solidFill>
              <a:srgbClr val="3CB8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176272"/>
            <a:ext cx="3474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148072" y="2249424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dampens positive mood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48072" y="2523744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Affect significantly decreased post-VR (t(39)=2.09, p=.043, d=0.27). Largest drop in Moderate-Severe group (ΔM=−4.25)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3529584"/>
            <a:ext cx="411480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529584"/>
            <a:ext cx="347472" cy="1225296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529584"/>
            <a:ext cx="3474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13232" y="3602736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Horror suppresses head scanning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3232" y="3877056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yaw speed (M=17.92) is ~43% lower than other videos. All participants freeze — stimulus dominates over depression group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3529584"/>
            <a:ext cx="411480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529584"/>
            <a:ext cx="347472" cy="1225296"/>
          </a:xfrm>
          <a:prstGeom prst="rect">
            <a:avLst/>
          </a:prstGeom>
          <a:solidFill>
            <a:srgbClr val="22385F"/>
          </a:solidFill>
          <a:ln w="12700">
            <a:solidFill>
              <a:srgbClr val="2238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529584"/>
            <a:ext cx="3474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148072" y="3602736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consistent with paper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48072" y="3877056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V1, V3, V5: Mod-Severe scans slightly slower than Minimal. However, KW p &gt; .30, Spearman |ρ| &lt; .12 — no statistical significance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IIIT Hyderabad | BRSM Report 1 |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85953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109728" cy="877824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778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Unequal Group Sizes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143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n=20 vs Mod-Severe n=8. Cannot control assignment — depression severity is a natural variable. Limits statistical power particularly for the clinically important high-depression group.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28800"/>
            <a:ext cx="85953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28800"/>
            <a:ext cx="109728" cy="87782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836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Difference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148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paper used HTC Vive Pro; this study used Meta Quest 3. Different tracking accuracy, display, and controller design may affect head movement patterns and presence ratings.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85953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34640"/>
            <a:ext cx="109728" cy="877824"/>
          </a:xfrm>
          <a:prstGeom prst="rect">
            <a:avLst/>
          </a:prstGeom>
          <a:solidFill>
            <a:srgbClr val="2D5FA3"/>
          </a:solidFill>
          <a:ln w="12700">
            <a:solidFill>
              <a:srgbClr val="2D5F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895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Duration Mismatch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154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(~122s) and V5 (~184s) are substantially longer than V1–V3 (~61s). V5 being longest may introduce fatigue effects; direct comparison of immersion and scanning speed is confounded by duration.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840480"/>
            <a:ext cx="85953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840480"/>
            <a:ext cx="109728" cy="877824"/>
          </a:xfrm>
          <a:prstGeom prst="rect">
            <a:avLst/>
          </a:prstGeom>
          <a:solidFill>
            <a:srgbClr val="00B4C8"/>
          </a:solidFill>
          <a:ln w="12700">
            <a:solidFill>
              <a:srgbClr val="00B4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8953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Demographics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male, 4 female; mean age 22.77. Near-homogeneous student sample from one institution limits generalisability. Depression base-rate may differ from general population.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C8"/>
          </a:solidFill>
          <a:ln w="12700">
            <a:solidFill>
              <a:srgbClr val="00B4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C8"/>
          </a:solidFill>
          <a:ln w="12700">
            <a:solidFill>
              <a:srgbClr val="00B4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IIIT Hyderabad | BRSM Report 1 |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1 establishes the empirical foundation for this replication study:
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CB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scales are non-normal → non-parametric inference is appropriate
</a:t>
            </a:r>
            <a:pPr indent="0" marL="0">
              <a:buNone/>
            </a:pPr>
            <a:r>
              <a:rPr lang="en-US" sz="1300" b="1" dirty="0">
                <a:solidFill>
                  <a:srgbClr val="3CB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PHQ-9 groups differ significantly on anxiety — an important confound to note
</a:t>
            </a:r>
            <a:pPr indent="0" marL="0">
              <a:buNone/>
            </a:pPr>
            <a:r>
              <a:rPr lang="en-US" sz="1300" b="1" dirty="0">
                <a:solidFill>
                  <a:srgbClr val="3CB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videos reliably elicit distinct emotional responses (Friedman p &lt; .001)
</a:t>
            </a:r>
            <a:pPr indent="0" marL="0">
              <a:buNone/>
            </a:pPr>
            <a:r>
              <a:rPr lang="en-US" sz="1300" b="1" dirty="0">
                <a:solidFill>
                  <a:srgbClr val="3CB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exposure significantly decreased positive affect (d = 0.27), especially in Mod-Severe group
</a:t>
            </a:r>
            <a:pPr indent="0" marL="0">
              <a:buNone/>
            </a:pPr>
            <a:r>
              <a:rPr lang="en-US" sz="1300" b="1" dirty="0">
                <a:solidFill>
                  <a:srgbClr val="3CB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Horror video (V4) produced dramatically lower scanning speed — ~43% below other videos
</a:t>
            </a:r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 group differences in head scanning exist directionally but are not yet statistically significant
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4187952"/>
            <a:ext cx="8412480" cy="36576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29768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IIIT Hyderabad  ·  Hrithik Sagar  ·  Aryan Jain  ·  Vidhi Rathore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Do Head Scans Reveal About Depression?</dc:title>
  <dc:subject>PptxGenJS Presentation</dc:subject>
  <dc:creator>PptxGenJS</dc:creator>
  <cp:lastModifiedBy>PptxGenJS</cp:lastModifiedBy>
  <cp:revision>1</cp:revision>
  <dcterms:created xsi:type="dcterms:W3CDTF">2026-03-08T06:50:32Z</dcterms:created>
  <dcterms:modified xsi:type="dcterms:W3CDTF">2026-03-08T06:50:32Z</dcterms:modified>
</cp:coreProperties>
</file>